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57" r:id="rId3"/>
    <p:sldId id="264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0F3"/>
    <a:srgbClr val="FFF5F7"/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4BE704-FA99-4D3E-BC42-A606010BE38D}" v="3" dt="2022-02-10T18:14:33.152"/>
    <p1510:client id="{37610425-CFBF-407D-86ED-ED6B5E9C88ED}" v="1" dt="2022-02-12T20:30:14.173"/>
    <p1510:client id="{8F937BFC-3224-4A25-B393-BF1D5A5949A1}" v="6" dt="2022-05-20T12:06:55.001"/>
  </p1510:revLst>
</p1510:revInfo>
</file>

<file path=ppt/tableStyles.xml><?xml version="1.0" encoding="utf-8"?>
<a:tblStyleLst xmlns:a="http://schemas.openxmlformats.org/drawingml/2006/main" def="{0817EA92-75D0-4044-A80A-286907CE0DDB}">
  <a:tblStyle styleId="{0817EA92-75D0-4044-A80A-286907CE0DDB}" styleName="Selectel Style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D9D9D9"/>
              </a:solidFill>
            </a:ln>
          </a:left>
          <a:right>
            <a:ln w="0" cmpd="sng">
              <a:solidFill>
                <a:srgbClr val="D9D9D9"/>
              </a:solidFill>
            </a:ln>
          </a:right>
          <a:top>
            <a:ln w="14000" cmpd="sng">
              <a:solidFill>
                <a:srgbClr val="D9D9D9"/>
              </a:solidFill>
            </a:ln>
          </a:top>
          <a:bottom>
            <a:ln w="14000" cmpd="sng">
              <a:solidFill>
                <a:srgbClr val="D9D9D9"/>
              </a:solidFill>
            </a:ln>
          </a:bottom>
          <a:insideH>
            <a:ln w="7000" cmpd="sng">
              <a:solidFill>
                <a:srgbClr val="D9D9D9"/>
              </a:solidFill>
            </a:ln>
          </a:insideH>
          <a:insideV>
            <a:ln w="0" cmpd="sng">
              <a:solidFill>
                <a:srgbClr val="D9D9D9"/>
              </a:solidFill>
            </a:ln>
          </a:insideV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F2F2F2"/>
          </a:solidFill>
        </a:fill>
      </a:tcStyle>
    </a:band1H>
    <a:band2H>
      <a:tcStyle>
        <a:tcBdr/>
        <a:fill>
          <a:solidFill>
            <a:srgbClr val="FFFFFF"/>
          </a:solidFill>
        </a:fill>
      </a:tcStyle>
    </a:band2H>
    <a:band1V>
      <a:tcStyle>
        <a:tcBdr/>
        <a:fill>
          <a:solidFill>
            <a:srgbClr val="FFFFFF"/>
          </a:solidFill>
        </a:fill>
      </a:tcStyle>
    </a:band1V>
    <a:band2V>
      <a:tcStyle>
        <a:tcBdr/>
        <a:fill>
          <a:solidFill>
            <a:srgbClr val="F2F2F2"/>
          </a:solidFill>
        </a:fill>
      </a:tcStyle>
    </a:band2V>
    <a:firstRow>
      <a:tcTxStyle b="on">
        <a:fontRef idx="minor">
          <a:prstClr val="black"/>
        </a:fontRef>
      </a:tcTxStyle>
      <a:tcStyle>
        <a:tcBdr>
          <a:top>
            <a:ln w="14000" cmpd="sng">
              <a:solidFill>
                <a:srgbClr val="D9D9D9"/>
              </a:solidFill>
            </a:ln>
          </a:top>
        </a:tcBdr>
        <a:fill>
          <a:solidFill>
            <a:srgbClr val="FFFFFF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343"/>
    <p:restoredTop sz="96327"/>
  </p:normalViewPr>
  <p:slideViewPr>
    <p:cSldViewPr snapToGrid="0" snapToObjects="1">
      <p:cViewPr>
        <p:scale>
          <a:sx n="139" d="100"/>
          <a:sy n="139" d="100"/>
        </p:scale>
        <p:origin x="3024" y="1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lad. B." userId="7d8b44abef05904b" providerId="Windows Live" clId="Web-{8F937BFC-3224-4A25-B393-BF1D5A5949A1}"/>
    <pc:docChg chg="modSld">
      <pc:chgData name="Vlad. B." userId="7d8b44abef05904b" providerId="Windows Live" clId="Web-{8F937BFC-3224-4A25-B393-BF1D5A5949A1}" dt="2022-05-20T12:06:55.001" v="5"/>
      <pc:docMkLst>
        <pc:docMk/>
      </pc:docMkLst>
      <pc:sldChg chg="addSp delSp">
        <pc:chgData name="Vlad. B." userId="7d8b44abef05904b" providerId="Windows Live" clId="Web-{8F937BFC-3224-4A25-B393-BF1D5A5949A1}" dt="2022-05-20T12:06:55.001" v="5"/>
        <pc:sldMkLst>
          <pc:docMk/>
          <pc:sldMk cId="367852833" sldId="263"/>
        </pc:sldMkLst>
        <pc:inkChg chg="add del">
          <ac:chgData name="Vlad. B." userId="7d8b44abef05904b" providerId="Windows Live" clId="Web-{8F937BFC-3224-4A25-B393-BF1D5A5949A1}" dt="2022-05-20T12:06:55.001" v="5"/>
          <ac:inkMkLst>
            <pc:docMk/>
            <pc:sldMk cId="367852833" sldId="263"/>
            <ac:inkMk id="4" creationId="{1DC81CD4-0E6D-480D-5A0A-15B8A7ED4D64}"/>
          </ac:inkMkLst>
        </pc:inkChg>
        <pc:inkChg chg="add del">
          <ac:chgData name="Vlad. B." userId="7d8b44abef05904b" providerId="Windows Live" clId="Web-{8F937BFC-3224-4A25-B393-BF1D5A5949A1}" dt="2022-05-20T12:06:52.454" v="4"/>
          <ac:inkMkLst>
            <pc:docMk/>
            <pc:sldMk cId="367852833" sldId="263"/>
            <ac:inkMk id="5" creationId="{219CC253-2583-3A0B-58B0-DBF6EC02CC05}"/>
          </ac:inkMkLst>
        </pc:inkChg>
        <pc:inkChg chg="add del">
          <ac:chgData name="Vlad. B." userId="7d8b44abef05904b" providerId="Windows Live" clId="Web-{8F937BFC-3224-4A25-B393-BF1D5A5949A1}" dt="2022-05-20T12:06:49.688" v="3"/>
          <ac:inkMkLst>
            <pc:docMk/>
            <pc:sldMk cId="367852833" sldId="263"/>
            <ac:inkMk id="6" creationId="{FA21DCAB-1B0C-69B8-F339-E6E39C59F616}"/>
          </ac:inkMkLst>
        </pc:inkChg>
      </pc:sldChg>
    </pc:docChg>
  </pc:docChgLst>
  <pc:docChgLst>
    <pc:chgData name="Vlad. B." userId="7d8b44abef05904b" providerId="Windows Live" clId="Web-{37610425-CFBF-407D-86ED-ED6B5E9C88ED}"/>
    <pc:docChg chg="modSld">
      <pc:chgData name="Vlad. B." userId="7d8b44abef05904b" providerId="Windows Live" clId="Web-{37610425-CFBF-407D-86ED-ED6B5E9C88ED}" dt="2022-02-12T20:30:14.173" v="0"/>
      <pc:docMkLst>
        <pc:docMk/>
      </pc:docMkLst>
      <pc:sldChg chg="delSp">
        <pc:chgData name="Vlad. B." userId="7d8b44abef05904b" providerId="Windows Live" clId="Web-{37610425-CFBF-407D-86ED-ED6B5E9C88ED}" dt="2022-02-12T20:30:14.173" v="0"/>
        <pc:sldMkLst>
          <pc:docMk/>
          <pc:sldMk cId="367852833" sldId="263"/>
        </pc:sldMkLst>
        <pc:graphicFrameChg chg="del">
          <ac:chgData name="Vlad. B." userId="7d8b44abef05904b" providerId="Windows Live" clId="Web-{37610425-CFBF-407D-86ED-ED6B5E9C88ED}" dt="2022-02-12T20:30:14.173" v="0"/>
          <ac:graphicFrameMkLst>
            <pc:docMk/>
            <pc:sldMk cId="367852833" sldId="263"/>
            <ac:graphicFrameMk id="4" creationId="{5C980C48-92A3-4169-8C9F-9388D73AC84C}"/>
          </ac:graphicFrameMkLst>
        </pc:graphicFrameChg>
      </pc:sldChg>
    </pc:docChg>
  </pc:docChgLst>
  <pc:docChgLst>
    <pc:chgData name="Горшков Антон" userId="e063304a9794742a" providerId="Windows Live" clId="Web-{2E4BE704-FA99-4D3E-BC42-A606010BE38D}"/>
    <pc:docChg chg="modSld">
      <pc:chgData name="Горшков Антон" userId="e063304a9794742a" providerId="Windows Live" clId="Web-{2E4BE704-FA99-4D3E-BC42-A606010BE38D}" dt="2022-02-10T18:14:33.152" v="2"/>
      <pc:docMkLst>
        <pc:docMk/>
      </pc:docMkLst>
      <pc:sldChg chg="addSp modSp">
        <pc:chgData name="Горшков Антон" userId="e063304a9794742a" providerId="Windows Live" clId="Web-{2E4BE704-FA99-4D3E-BC42-A606010BE38D}" dt="2022-02-10T18:14:33.152" v="2"/>
        <pc:sldMkLst>
          <pc:docMk/>
          <pc:sldMk cId="367852833" sldId="263"/>
        </pc:sldMkLst>
        <pc:graphicFrameChg chg="add modGraphic">
          <ac:chgData name="Горшков Антон" userId="e063304a9794742a" providerId="Windows Live" clId="Web-{2E4BE704-FA99-4D3E-BC42-A606010BE38D}" dt="2022-02-10T18:14:33.152" v="2"/>
          <ac:graphicFrameMkLst>
            <pc:docMk/>
            <pc:sldMk cId="367852833" sldId="263"/>
            <ac:graphicFrameMk id="4" creationId="{5C980C48-92A3-4169-8C9F-9388D73AC84C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84E7-3EAE-F34E-B3FA-1F5E60629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DFA92B-5898-B740-85E6-2C5718DBCB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62F75-C619-E644-8480-444A88B11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0AF1E-164B-3648-8D82-BA1396958CA1}" type="datetimeFigureOut">
              <a:rPr lang="en-RU" smtClean="0"/>
              <a:t>05/20/2022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422D8-B7C1-6741-B402-137F6366C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90623-F201-9844-BD8B-71730CCB0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CB474-590C-3942-9E3A-A729A902981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92420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78206-E891-604B-918E-1DABF2448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0E1E4-CC75-FE41-9255-668718A22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AB744-8A86-1C44-BE70-6365900F7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0AF1E-164B-3648-8D82-BA1396958CA1}" type="datetimeFigureOut">
              <a:rPr lang="en-RU" smtClean="0"/>
              <a:t>05/20/2022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AE7C2-81F7-5A4D-8ABB-29E5197B5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05B0A-BB49-3A44-B291-A72DD5DC0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CB474-590C-3942-9E3A-A729A902981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417616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8F990-B6C2-C341-999E-0177A9D53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35DB5-EEFE-9948-B191-F27EDF311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9C9F9-4733-7D4E-9599-B414AED40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0AF1E-164B-3648-8D82-BA1396958CA1}" type="datetimeFigureOut">
              <a:rPr lang="en-RU" smtClean="0"/>
              <a:t>05/20/2022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E1673-CB8C-1142-A804-7FFE00F92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3B436-0BBA-C543-839F-40A5D1C62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CB474-590C-3942-9E3A-A729A902981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139294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B0948-F5B9-5644-8611-092F1A38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BE0BE-DE09-7A47-A03E-DDFB4AB611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92838D-AF61-5643-9933-BBEAC78BE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8942DB-9EDF-A343-B1D7-2EFF4BA34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0AF1E-164B-3648-8D82-BA1396958CA1}" type="datetimeFigureOut">
              <a:rPr lang="en-RU" smtClean="0"/>
              <a:t>05/20/2022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1A80BB-6BDC-AD4E-A447-CA7475DC7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84D2CA-0977-394A-A624-EC213723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CB474-590C-3942-9E3A-A729A902981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225541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063DD-83B9-364D-8BD0-C402C598B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59F135-9DB3-914C-A67C-296B9514E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694340-9679-3F49-945B-DB7811E17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61BB84-5754-6D40-BBD0-2D6CE0F38B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FD7F6F-63F1-5A47-A335-6C41A8689A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466C8D-B77D-6344-BFEE-FA490F81D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0AF1E-164B-3648-8D82-BA1396958CA1}" type="datetimeFigureOut">
              <a:rPr lang="en-RU" smtClean="0"/>
              <a:t>05/20/2022</a:t>
            </a:fld>
            <a:endParaRPr lang="en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8EEEAF-C392-C24D-8788-7CA308018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2D687F-90A3-8843-B53E-EEBF6DA87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CB474-590C-3942-9E3A-A729A902981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361185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0FB33-2D4A-734D-BD73-EF59903BF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6E59B7-4723-D749-8450-B65B5EBA6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0AF1E-164B-3648-8D82-BA1396958CA1}" type="datetimeFigureOut">
              <a:rPr lang="en-RU" smtClean="0"/>
              <a:t>05/20/2022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FDAB4B-573D-7D44-8091-A9F16C30A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CD316D-70F5-A144-AF96-88226578D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CB474-590C-3942-9E3A-A729A902981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492412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8367A9-E71F-2D49-B7EE-E6474D412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0AF1E-164B-3648-8D82-BA1396958CA1}" type="datetimeFigureOut">
              <a:rPr lang="en-RU" smtClean="0"/>
              <a:t>05/20/2022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6A36BE-3E2D-2D48-A42E-2EF9BACF9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2BF9F-345C-A844-A4FF-8ACEFE5F0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CB474-590C-3942-9E3A-A729A902981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334543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79E3E-E35F-4643-8E18-6F846477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ACD0E-0414-B84E-B1DD-BD476B75C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6A999-B378-2645-86B3-D8DB80F45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1127E-8E0C-7B45-A593-743C879BC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0AF1E-164B-3648-8D82-BA1396958CA1}" type="datetimeFigureOut">
              <a:rPr lang="en-RU" smtClean="0"/>
              <a:t>05/20/2022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4AF95E-4A1B-1D46-AD52-1F692B3F5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19BE1A-65A0-864C-AF80-59C38B64E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CB474-590C-3942-9E3A-A729A902981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016535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CEB0A-FDC9-6847-89CE-294630096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DEFF9A-E77D-2F40-B9B3-7AE4D77F5A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D7234E-1541-9241-BAEB-16D24525D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2CE51-E4CE-8D4A-81FF-F197F82CD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0AF1E-164B-3648-8D82-BA1396958CA1}" type="datetimeFigureOut">
              <a:rPr lang="en-RU" smtClean="0"/>
              <a:t>05/20/2022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7CEEF-9BAE-9647-A72F-F47184B96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7283B0-1574-2D4E-94D4-FA74D9D9F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CB474-590C-3942-9E3A-A729A902981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1124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1E887-7A1E-514F-AA16-603C5869E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FA9B08-943D-9640-B211-AAA9AD9775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FAC22-5932-3643-B343-99E383747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0AF1E-164B-3648-8D82-BA1396958CA1}" type="datetimeFigureOut">
              <a:rPr lang="en-RU" smtClean="0"/>
              <a:t>05/20/2022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AE36E-ADAB-C940-8EA2-172E9361A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2DC19-873A-584F-8AB5-476A73D46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CB474-590C-3942-9E3A-A729A902981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257526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976A02-5B74-7C47-8166-65FC86E7C3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95A66E-E096-EC49-8FD9-AD60DD825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16633-3034-544F-BA2E-79A1A6C96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0AF1E-164B-3648-8D82-BA1396958CA1}" type="datetimeFigureOut">
              <a:rPr lang="en-RU" smtClean="0"/>
              <a:t>05/20/2022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9CD11-F66C-444D-8097-9E3DA42EE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28F0B-A156-E140-99EA-A068BEF88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CB474-590C-3942-9E3A-A729A902981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1119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A85FF9-EF71-9644-8872-4139CA2FA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ED544-142E-9B44-812F-9A7AEDE8A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7735D-A490-0E4F-84CB-A2C9265379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0AF1E-164B-3648-8D82-BA1396958CA1}" type="datetimeFigureOut">
              <a:rPr lang="en-RU" smtClean="0"/>
              <a:t>05/20/2022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910EC-AA22-6D47-BEFF-A06E3E07A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30EA6-2F15-0448-8315-71161D8AE9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DCB474-590C-3942-9E3A-A729A902981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67177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7BE1360E-164A-465E-9C51-195D39168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581425"/>
              </p:ext>
            </p:extLst>
          </p:nvPr>
        </p:nvGraphicFramePr>
        <p:xfrm>
          <a:off x="638630" y="1575569"/>
          <a:ext cx="10914740" cy="4320000"/>
        </p:xfrm>
        <a:graphic>
          <a:graphicData uri="http://schemas.openxmlformats.org/drawingml/2006/table">
            <a:tbl>
              <a:tblPr>
                <a:effectLst/>
                <a:tableStyleId>{0817EA92-75D0-4044-A80A-286907CE0DDB}</a:tableStyleId>
              </a:tblPr>
              <a:tblGrid>
                <a:gridCol w="3564000">
                  <a:extLst>
                    <a:ext uri="{9D8B030D-6E8A-4147-A177-3AD203B41FA5}">
                      <a16:colId xmlns:a16="http://schemas.microsoft.com/office/drawing/2014/main" val="64869252"/>
                    </a:ext>
                  </a:extLst>
                </a:gridCol>
                <a:gridCol w="1343343">
                  <a:extLst>
                    <a:ext uri="{9D8B030D-6E8A-4147-A177-3AD203B41FA5}">
                      <a16:colId xmlns:a16="http://schemas.microsoft.com/office/drawing/2014/main" val="32693057"/>
                    </a:ext>
                  </a:extLst>
                </a:gridCol>
                <a:gridCol w="1462405">
                  <a:extLst>
                    <a:ext uri="{9D8B030D-6E8A-4147-A177-3AD203B41FA5}">
                      <a16:colId xmlns:a16="http://schemas.microsoft.com/office/drawing/2014/main" val="620869438"/>
                    </a:ext>
                  </a:extLst>
                </a:gridCol>
                <a:gridCol w="1459230">
                  <a:extLst>
                    <a:ext uri="{9D8B030D-6E8A-4147-A177-3AD203B41FA5}">
                      <a16:colId xmlns:a16="http://schemas.microsoft.com/office/drawing/2014/main" val="1674255288"/>
                    </a:ext>
                  </a:extLst>
                </a:gridCol>
                <a:gridCol w="1459230">
                  <a:extLst>
                    <a:ext uri="{9D8B030D-6E8A-4147-A177-3AD203B41FA5}">
                      <a16:colId xmlns:a16="http://schemas.microsoft.com/office/drawing/2014/main" val="3853180543"/>
                    </a:ext>
                  </a:extLst>
                </a:gridCol>
                <a:gridCol w="1626532">
                  <a:extLst>
                    <a:ext uri="{9D8B030D-6E8A-4147-A177-3AD203B41FA5}">
                      <a16:colId xmlns:a16="http://schemas.microsoft.com/office/drawing/2014/main" val="149279957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GTX 1070</a:t>
                      </a:r>
                      <a:endParaRPr lang="en-RU" sz="18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GTX 1080</a:t>
                      </a:r>
                      <a:endParaRPr lang="en-RU" sz="18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RTX 2080 </a:t>
                      </a:r>
                      <a:r>
                        <a:rPr lang="en-US" sz="1800" b="1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Ti</a:t>
                      </a:r>
                      <a:endParaRPr lang="en-RU" sz="18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Tesla T4</a:t>
                      </a:r>
                      <a:endParaRPr lang="en-RU" sz="18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Tesla V100</a:t>
                      </a:r>
                      <a:endParaRPr lang="en-RU" sz="18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27205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Архитектура </a:t>
                      </a:r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GPU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Pascal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Pascal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Turing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Turing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Volta</a:t>
                      </a:r>
                      <a:endParaRPr lang="en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6120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Ядра </a:t>
                      </a:r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NVIDIA Turing Tensor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—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—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544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320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640</a:t>
                      </a:r>
                      <a:endParaRPr lang="en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650202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Ядра </a:t>
                      </a:r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NVIDIA CUDA®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1920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2560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4352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2560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5120</a:t>
                      </a:r>
                      <a:endParaRPr lang="en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938918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Конфигурация памяти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8 ГБ </a:t>
                      </a:r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GDDR5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8 ГБ </a:t>
                      </a:r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GDDR5X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11 ГБ </a:t>
                      </a:r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GDDR6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16 ГБ </a:t>
                      </a:r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GDDR6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dirty="0">
                          <a:effectLst/>
                        </a:rPr>
                        <a:t>32 ГБ </a:t>
                      </a:r>
                      <a:r>
                        <a:rPr lang="en-US" dirty="0">
                          <a:effectLst/>
                        </a:rPr>
                        <a:t>HBM2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939707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Пропускная способность памяти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256 ГБ/с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320 ГБ/с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616 ГБ/с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320 ГБ/с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900 ГБ/с</a:t>
                      </a:r>
                      <a:endParaRPr lang="en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681800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9B8CE43-9A6F-4C19-B7FD-9627CBCC473D}"/>
              </a:ext>
            </a:extLst>
          </p:cNvPr>
          <p:cNvSpPr txBox="1"/>
          <p:nvPr/>
        </p:nvSpPr>
        <p:spPr>
          <a:xfrm>
            <a:off x="3977856" y="474368"/>
            <a:ext cx="42362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dirty="0">
                <a:solidFill>
                  <a:srgbClr val="3131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Характеристики </a:t>
            </a:r>
            <a:r>
              <a:rPr lang="en-US" sz="3600" dirty="0">
                <a:solidFill>
                  <a:srgbClr val="3131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GPU</a:t>
            </a:r>
            <a:endParaRPr lang="ru-RU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52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7BE1360E-164A-465E-9C51-195D39168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876716"/>
              </p:ext>
            </p:extLst>
          </p:nvPr>
        </p:nvGraphicFramePr>
        <p:xfrm>
          <a:off x="638630" y="1575569"/>
          <a:ext cx="10914740" cy="4320000"/>
        </p:xfrm>
        <a:graphic>
          <a:graphicData uri="http://schemas.openxmlformats.org/drawingml/2006/table">
            <a:tbl>
              <a:tblPr firstRow="1" bandRow="1">
                <a:effectLst/>
                <a:tableStyleId>{0817EA92-75D0-4044-A80A-286907CE0DDB}</a:tableStyleId>
              </a:tblPr>
              <a:tblGrid>
                <a:gridCol w="3564000">
                  <a:extLst>
                    <a:ext uri="{9D8B030D-6E8A-4147-A177-3AD203B41FA5}">
                      <a16:colId xmlns:a16="http://schemas.microsoft.com/office/drawing/2014/main" val="64869252"/>
                    </a:ext>
                  </a:extLst>
                </a:gridCol>
                <a:gridCol w="1343343">
                  <a:extLst>
                    <a:ext uri="{9D8B030D-6E8A-4147-A177-3AD203B41FA5}">
                      <a16:colId xmlns:a16="http://schemas.microsoft.com/office/drawing/2014/main" val="32693057"/>
                    </a:ext>
                  </a:extLst>
                </a:gridCol>
                <a:gridCol w="1462405">
                  <a:extLst>
                    <a:ext uri="{9D8B030D-6E8A-4147-A177-3AD203B41FA5}">
                      <a16:colId xmlns:a16="http://schemas.microsoft.com/office/drawing/2014/main" val="620869438"/>
                    </a:ext>
                  </a:extLst>
                </a:gridCol>
                <a:gridCol w="1459230">
                  <a:extLst>
                    <a:ext uri="{9D8B030D-6E8A-4147-A177-3AD203B41FA5}">
                      <a16:colId xmlns:a16="http://schemas.microsoft.com/office/drawing/2014/main" val="1674255288"/>
                    </a:ext>
                  </a:extLst>
                </a:gridCol>
                <a:gridCol w="1459230">
                  <a:extLst>
                    <a:ext uri="{9D8B030D-6E8A-4147-A177-3AD203B41FA5}">
                      <a16:colId xmlns:a16="http://schemas.microsoft.com/office/drawing/2014/main" val="3853180543"/>
                    </a:ext>
                  </a:extLst>
                </a:gridCol>
                <a:gridCol w="1626532">
                  <a:extLst>
                    <a:ext uri="{9D8B030D-6E8A-4147-A177-3AD203B41FA5}">
                      <a16:colId xmlns:a16="http://schemas.microsoft.com/office/drawing/2014/main" val="149279957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GTX 1070</a:t>
                      </a:r>
                      <a:endParaRPr lang="en-RU" sz="18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GTX 1080</a:t>
                      </a:r>
                      <a:endParaRPr lang="en-RU" sz="18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RTX 2080 </a:t>
                      </a:r>
                      <a:r>
                        <a:rPr lang="en-US" sz="1800" b="1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Ti</a:t>
                      </a:r>
                      <a:endParaRPr lang="en-RU" sz="18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Tesla T4</a:t>
                      </a:r>
                      <a:endParaRPr lang="en-RU" sz="18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Tesla V100</a:t>
                      </a:r>
                      <a:endParaRPr lang="en-RU" sz="18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27205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Архитектура </a:t>
                      </a:r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GPU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Pascal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Pascal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Turing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Turing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Volta</a:t>
                      </a:r>
                      <a:endParaRPr lang="en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6120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Ядра </a:t>
                      </a:r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NVIDIA Turing Tensor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—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—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544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320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640</a:t>
                      </a:r>
                      <a:endParaRPr lang="en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650202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Ядра </a:t>
                      </a:r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NVIDIA CUDA®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1920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2560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4352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2560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5120</a:t>
                      </a:r>
                      <a:endParaRPr lang="en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938918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Конфигурация памяти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8 ГБ </a:t>
                      </a:r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GDDR5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8 ГБ </a:t>
                      </a:r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GDDR5X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11 ГБ </a:t>
                      </a:r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GDDR6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16 ГБ </a:t>
                      </a:r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GDDR6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dirty="0">
                          <a:effectLst/>
                        </a:rPr>
                        <a:t>32 ГБ </a:t>
                      </a:r>
                      <a:r>
                        <a:rPr lang="en-US" dirty="0">
                          <a:effectLst/>
                        </a:rPr>
                        <a:t>HBM2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939707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Пропускная способность памяти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256 ГБ/с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320 ГБ/с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616 ГБ/с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320 ГБ/с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900 ГБ/с</a:t>
                      </a:r>
                      <a:endParaRPr lang="en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681800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9B8CE43-9A6F-4C19-B7FD-9627CBCC473D}"/>
              </a:ext>
            </a:extLst>
          </p:cNvPr>
          <p:cNvSpPr txBox="1"/>
          <p:nvPr/>
        </p:nvSpPr>
        <p:spPr>
          <a:xfrm>
            <a:off x="3977856" y="474368"/>
            <a:ext cx="42362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dirty="0">
                <a:solidFill>
                  <a:srgbClr val="3131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Характеристики </a:t>
            </a:r>
            <a:r>
              <a:rPr lang="en-US" sz="3600" dirty="0">
                <a:solidFill>
                  <a:srgbClr val="3131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GPU</a:t>
            </a:r>
            <a:endParaRPr lang="ru-RU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764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7BE1360E-164A-465E-9C51-195D39168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723049"/>
              </p:ext>
            </p:extLst>
          </p:nvPr>
        </p:nvGraphicFramePr>
        <p:xfrm>
          <a:off x="638630" y="1575569"/>
          <a:ext cx="10914740" cy="4320000"/>
        </p:xfrm>
        <a:graphic>
          <a:graphicData uri="http://schemas.openxmlformats.org/drawingml/2006/table">
            <a:tbl>
              <a:tblPr bandCol="1">
                <a:effectLst/>
                <a:tableStyleId>{0817EA92-75D0-4044-A80A-286907CE0DDB}</a:tableStyleId>
              </a:tblPr>
              <a:tblGrid>
                <a:gridCol w="3564000">
                  <a:extLst>
                    <a:ext uri="{9D8B030D-6E8A-4147-A177-3AD203B41FA5}">
                      <a16:colId xmlns:a16="http://schemas.microsoft.com/office/drawing/2014/main" val="64869252"/>
                    </a:ext>
                  </a:extLst>
                </a:gridCol>
                <a:gridCol w="1343343">
                  <a:extLst>
                    <a:ext uri="{9D8B030D-6E8A-4147-A177-3AD203B41FA5}">
                      <a16:colId xmlns:a16="http://schemas.microsoft.com/office/drawing/2014/main" val="32693057"/>
                    </a:ext>
                  </a:extLst>
                </a:gridCol>
                <a:gridCol w="1462405">
                  <a:extLst>
                    <a:ext uri="{9D8B030D-6E8A-4147-A177-3AD203B41FA5}">
                      <a16:colId xmlns:a16="http://schemas.microsoft.com/office/drawing/2014/main" val="620869438"/>
                    </a:ext>
                  </a:extLst>
                </a:gridCol>
                <a:gridCol w="1459230">
                  <a:extLst>
                    <a:ext uri="{9D8B030D-6E8A-4147-A177-3AD203B41FA5}">
                      <a16:colId xmlns:a16="http://schemas.microsoft.com/office/drawing/2014/main" val="1674255288"/>
                    </a:ext>
                  </a:extLst>
                </a:gridCol>
                <a:gridCol w="1459230">
                  <a:extLst>
                    <a:ext uri="{9D8B030D-6E8A-4147-A177-3AD203B41FA5}">
                      <a16:colId xmlns:a16="http://schemas.microsoft.com/office/drawing/2014/main" val="3853180543"/>
                    </a:ext>
                  </a:extLst>
                </a:gridCol>
                <a:gridCol w="1626532">
                  <a:extLst>
                    <a:ext uri="{9D8B030D-6E8A-4147-A177-3AD203B41FA5}">
                      <a16:colId xmlns:a16="http://schemas.microsoft.com/office/drawing/2014/main" val="149279957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GTX 1070</a:t>
                      </a:r>
                      <a:endParaRPr lang="en-RU" sz="18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GTX 1080</a:t>
                      </a:r>
                      <a:endParaRPr lang="en-RU" sz="18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RTX 2080 </a:t>
                      </a:r>
                      <a:r>
                        <a:rPr lang="en-US" sz="1800" b="1" u="none" strike="noStrike" kern="1200" dirty="0" err="1">
                          <a:solidFill>
                            <a:schemeClr val="dk1"/>
                          </a:solidFill>
                          <a:effectLst/>
                        </a:rPr>
                        <a:t>Ti</a:t>
                      </a:r>
                      <a:endParaRPr lang="en-RU" sz="18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Tesla T4</a:t>
                      </a:r>
                      <a:endParaRPr lang="en-RU" sz="18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Tesla V100</a:t>
                      </a:r>
                      <a:endParaRPr lang="en-RU" sz="18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27205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Архитектура </a:t>
                      </a:r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GPU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Pascal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Pascal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Turing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Turing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Volta</a:t>
                      </a:r>
                      <a:endParaRPr lang="en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6120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Ядра </a:t>
                      </a:r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NVIDIA Turing Tensor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—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—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544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320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640</a:t>
                      </a:r>
                      <a:endParaRPr lang="en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650202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Ядра </a:t>
                      </a:r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NVIDIA CUDA®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1920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2560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4352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2560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5120</a:t>
                      </a:r>
                      <a:endParaRPr lang="en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938918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Конфигурация памяти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8 ГБ </a:t>
                      </a:r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GDDR5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8 ГБ </a:t>
                      </a:r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GDDR5X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11 ГБ </a:t>
                      </a:r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GDDR6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16 ГБ </a:t>
                      </a:r>
                      <a:r>
                        <a:rPr lang="en-US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GDDR6</a:t>
                      </a:r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dirty="0">
                          <a:effectLst/>
                        </a:rPr>
                        <a:t>32 ГБ </a:t>
                      </a:r>
                      <a:r>
                        <a:rPr lang="en-US" dirty="0">
                          <a:effectLst/>
                        </a:rPr>
                        <a:t>HBM2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939707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Пропускная способность памяти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256 ГБ/с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320 ГБ/с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616 ГБ/с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320 ГБ/с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900 ГБ/с</a:t>
                      </a:r>
                      <a:endParaRPr lang="en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681800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9B8CE43-9A6F-4C19-B7FD-9627CBCC473D}"/>
              </a:ext>
            </a:extLst>
          </p:cNvPr>
          <p:cNvSpPr txBox="1"/>
          <p:nvPr/>
        </p:nvSpPr>
        <p:spPr>
          <a:xfrm>
            <a:off x="3977856" y="474368"/>
            <a:ext cx="42362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dirty="0">
                <a:solidFill>
                  <a:srgbClr val="3131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Характеристики </a:t>
            </a:r>
            <a:r>
              <a:rPr lang="en-US" sz="3600" dirty="0">
                <a:solidFill>
                  <a:srgbClr val="3131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GPU</a:t>
            </a:r>
            <a:endParaRPr lang="ru-RU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793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7BE1360E-164A-465E-9C51-195D39168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396159"/>
              </p:ext>
            </p:extLst>
          </p:nvPr>
        </p:nvGraphicFramePr>
        <p:xfrm>
          <a:off x="3396000" y="2110752"/>
          <a:ext cx="5400000" cy="3240000"/>
        </p:xfrm>
        <a:graphic>
          <a:graphicData uri="http://schemas.openxmlformats.org/drawingml/2006/table">
            <a:tbl>
              <a:tblPr firstRow="1">
                <a:effectLst/>
                <a:tableStyleId>{0817EA92-75D0-4044-A80A-286907CE0DDB}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64869252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32693057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674255288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RU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27205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61209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650202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938918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939707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6818009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EC41B11D-20AD-A347-8060-4CFBAD84DD65}"/>
              </a:ext>
            </a:extLst>
          </p:cNvPr>
          <p:cNvSpPr/>
          <p:nvPr/>
        </p:nvSpPr>
        <p:spPr>
          <a:xfrm>
            <a:off x="4730750" y="530352"/>
            <a:ext cx="27305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360000"/>
            <a:r>
              <a:rPr lang="en-RU" sz="1200" dirty="0">
                <a:solidFill>
                  <a:srgbClr val="00B0F0"/>
                </a:solidFill>
              </a:rPr>
              <a:t>&lt;a:top&gt;</a:t>
            </a:r>
          </a:p>
          <a:p>
            <a:pPr defTabSz="360000"/>
            <a:r>
              <a:rPr lang="en-RU" sz="1200" dirty="0">
                <a:solidFill>
                  <a:srgbClr val="00B0F0"/>
                </a:solidFill>
              </a:rPr>
              <a:t>	&lt;a:ln w="14000" cmpd="sng"&gt;</a:t>
            </a:r>
          </a:p>
          <a:p>
            <a:pPr defTabSz="360000"/>
            <a:r>
              <a:rPr lang="en-RU" sz="1200" dirty="0">
                <a:solidFill>
                  <a:srgbClr val="00B0F0"/>
                </a:solidFill>
              </a:rPr>
              <a:t>	&lt;a:solidFill&gt;</a:t>
            </a:r>
          </a:p>
          <a:p>
            <a:pPr defTabSz="360000"/>
            <a:r>
              <a:rPr lang="en-RU" sz="1200" dirty="0">
                <a:solidFill>
                  <a:srgbClr val="00B0F0"/>
                </a:solidFill>
              </a:rPr>
              <a:t>		&lt;a:srgbClr val="D9D9D9"/&gt;</a:t>
            </a:r>
          </a:p>
          <a:p>
            <a:pPr defTabSz="360000"/>
            <a:r>
              <a:rPr lang="en-RU" sz="1200" dirty="0">
                <a:solidFill>
                  <a:srgbClr val="00B0F0"/>
                </a:solidFill>
              </a:rPr>
              <a:t>	&lt;/a:solidFill&gt;</a:t>
            </a:r>
          </a:p>
          <a:p>
            <a:pPr defTabSz="360000"/>
            <a:r>
              <a:rPr lang="en-RU" sz="1200" dirty="0">
                <a:solidFill>
                  <a:srgbClr val="00B0F0"/>
                </a:solidFill>
              </a:rPr>
              <a:t>	&lt;/a:ln&gt;</a:t>
            </a:r>
          </a:p>
          <a:p>
            <a:pPr defTabSz="360000"/>
            <a:r>
              <a:rPr lang="en-GB" sz="1200" dirty="0">
                <a:solidFill>
                  <a:srgbClr val="00B0F0"/>
                </a:solidFill>
              </a:rPr>
              <a:t>&lt;/</a:t>
            </a:r>
            <a:r>
              <a:rPr lang="en-GB" sz="1200" dirty="0" err="1">
                <a:solidFill>
                  <a:srgbClr val="00B0F0"/>
                </a:solidFill>
              </a:rPr>
              <a:t>a:top</a:t>
            </a:r>
            <a:r>
              <a:rPr lang="en-GB" sz="1200" dirty="0">
                <a:solidFill>
                  <a:srgbClr val="00B0F0"/>
                </a:solidFill>
              </a:rPr>
              <a:t>&gt;</a:t>
            </a:r>
            <a:endParaRPr lang="en-RU" sz="1200" dirty="0">
              <a:solidFill>
                <a:srgbClr val="00B0F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7F108E-7914-244B-ADA8-E985D1C64A3B}"/>
              </a:ext>
            </a:extLst>
          </p:cNvPr>
          <p:cNvSpPr/>
          <p:nvPr/>
        </p:nvSpPr>
        <p:spPr>
          <a:xfrm>
            <a:off x="9211423" y="3038255"/>
            <a:ext cx="27305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360000"/>
            <a:r>
              <a:rPr lang="en-GB" sz="1200" dirty="0">
                <a:solidFill>
                  <a:srgbClr val="00B0F0"/>
                </a:solidFill>
              </a:rPr>
              <a:t>&lt;a:</a:t>
            </a:r>
            <a:r>
              <a:rPr lang="en-US" sz="1200" dirty="0">
                <a:solidFill>
                  <a:srgbClr val="00B0F0"/>
                </a:solidFill>
              </a:rPr>
              <a:t>right</a:t>
            </a:r>
            <a:r>
              <a:rPr lang="en-GB" sz="1200" dirty="0">
                <a:solidFill>
                  <a:srgbClr val="00B0F0"/>
                </a:solidFill>
              </a:rPr>
              <a:t>&gt;</a:t>
            </a:r>
          </a:p>
          <a:p>
            <a:pPr defTabSz="360000"/>
            <a:r>
              <a:rPr lang="en-GB" sz="1200" dirty="0">
                <a:solidFill>
                  <a:srgbClr val="00B0F0"/>
                </a:solidFill>
              </a:rPr>
              <a:t>	&lt;</a:t>
            </a:r>
            <a:r>
              <a:rPr lang="en-GB" sz="1200" dirty="0" err="1">
                <a:solidFill>
                  <a:srgbClr val="00B0F0"/>
                </a:solidFill>
              </a:rPr>
              <a:t>a:ln</a:t>
            </a:r>
            <a:r>
              <a:rPr lang="en-GB" sz="1200" dirty="0">
                <a:solidFill>
                  <a:srgbClr val="00B0F0"/>
                </a:solidFill>
              </a:rPr>
              <a:t> w="0" </a:t>
            </a:r>
            <a:r>
              <a:rPr lang="en-GB" sz="1200" dirty="0" err="1">
                <a:solidFill>
                  <a:srgbClr val="00B0F0"/>
                </a:solidFill>
              </a:rPr>
              <a:t>cmpd</a:t>
            </a:r>
            <a:r>
              <a:rPr lang="en-GB" sz="1200" dirty="0">
                <a:solidFill>
                  <a:srgbClr val="00B0F0"/>
                </a:solidFill>
              </a:rPr>
              <a:t>="</a:t>
            </a:r>
            <a:r>
              <a:rPr lang="en-GB" sz="1200" dirty="0" err="1">
                <a:solidFill>
                  <a:srgbClr val="00B0F0"/>
                </a:solidFill>
              </a:rPr>
              <a:t>sng</a:t>
            </a:r>
            <a:r>
              <a:rPr lang="en-GB" sz="1200" dirty="0">
                <a:solidFill>
                  <a:srgbClr val="00B0F0"/>
                </a:solidFill>
              </a:rPr>
              <a:t>"&gt;			&lt;</a:t>
            </a:r>
            <a:r>
              <a:rPr lang="en-GB" sz="1200" dirty="0" err="1">
                <a:solidFill>
                  <a:srgbClr val="00B0F0"/>
                </a:solidFill>
              </a:rPr>
              <a:t>a:solidFill</a:t>
            </a:r>
            <a:r>
              <a:rPr lang="en-GB" sz="1200" dirty="0">
                <a:solidFill>
                  <a:srgbClr val="00B0F0"/>
                </a:solidFill>
              </a:rPr>
              <a:t>&gt;						&lt;</a:t>
            </a:r>
            <a:r>
              <a:rPr lang="en-GB" sz="1200" dirty="0" err="1">
                <a:solidFill>
                  <a:srgbClr val="00B0F0"/>
                </a:solidFill>
              </a:rPr>
              <a:t>a:srgbClr</a:t>
            </a:r>
            <a:r>
              <a:rPr lang="en-GB" sz="1200" dirty="0">
                <a:solidFill>
                  <a:srgbClr val="00B0F0"/>
                </a:solidFill>
              </a:rPr>
              <a:t> </a:t>
            </a:r>
            <a:r>
              <a:rPr lang="en-GB" sz="1200" dirty="0" err="1">
                <a:solidFill>
                  <a:srgbClr val="00B0F0"/>
                </a:solidFill>
              </a:rPr>
              <a:t>val</a:t>
            </a:r>
            <a:r>
              <a:rPr lang="en-GB" sz="1200" dirty="0">
                <a:solidFill>
                  <a:srgbClr val="00B0F0"/>
                </a:solidFill>
              </a:rPr>
              <a:t>="D9D9D9"/&gt;	&lt;/</a:t>
            </a:r>
            <a:r>
              <a:rPr lang="en-GB" sz="1200" dirty="0" err="1">
                <a:solidFill>
                  <a:srgbClr val="00B0F0"/>
                </a:solidFill>
              </a:rPr>
              <a:t>a:solidFill</a:t>
            </a:r>
            <a:r>
              <a:rPr lang="en-GB" sz="1200" dirty="0">
                <a:solidFill>
                  <a:srgbClr val="00B0F0"/>
                </a:solidFill>
              </a:rPr>
              <a:t>&gt;</a:t>
            </a:r>
          </a:p>
          <a:p>
            <a:pPr defTabSz="360000"/>
            <a:r>
              <a:rPr lang="en-GB" sz="1200" dirty="0">
                <a:solidFill>
                  <a:srgbClr val="00B0F0"/>
                </a:solidFill>
              </a:rPr>
              <a:t>	&lt;/</a:t>
            </a:r>
            <a:r>
              <a:rPr lang="en-GB" sz="1200" dirty="0" err="1">
                <a:solidFill>
                  <a:srgbClr val="00B0F0"/>
                </a:solidFill>
              </a:rPr>
              <a:t>a:ln</a:t>
            </a:r>
            <a:r>
              <a:rPr lang="en-GB" sz="1200" dirty="0">
                <a:solidFill>
                  <a:srgbClr val="00B0F0"/>
                </a:solidFill>
              </a:rPr>
              <a:t>&gt;</a:t>
            </a:r>
          </a:p>
          <a:p>
            <a:pPr defTabSz="360000"/>
            <a:r>
              <a:rPr lang="en-GB" sz="1200" dirty="0">
                <a:solidFill>
                  <a:srgbClr val="00B0F0"/>
                </a:solidFill>
              </a:rPr>
              <a:t>&lt;/</a:t>
            </a:r>
            <a:r>
              <a:rPr lang="en-GB" sz="1200" dirty="0" err="1">
                <a:solidFill>
                  <a:srgbClr val="00B0F0"/>
                </a:solidFill>
              </a:rPr>
              <a:t>a:right</a:t>
            </a:r>
            <a:r>
              <a:rPr lang="en-GB" sz="1200" dirty="0">
                <a:solidFill>
                  <a:srgbClr val="00B0F0"/>
                </a:solidFill>
              </a:rPr>
              <a:t>&gt;</a:t>
            </a:r>
            <a:endParaRPr lang="en-RU" sz="1200" dirty="0">
              <a:solidFill>
                <a:srgbClr val="00B0F0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AF305B1-1AE6-2842-A9F2-C85295E2E4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912040" y="1690286"/>
            <a:ext cx="367920" cy="36792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1768F95-7050-654B-842E-B9BDE8E300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869418" y="3546792"/>
            <a:ext cx="367920" cy="36792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98E787D-A70B-924A-AC06-7E8D4B5EBA4C}"/>
              </a:ext>
            </a:extLst>
          </p:cNvPr>
          <p:cNvCxnSpPr>
            <a:cxnSpLocks/>
          </p:cNvCxnSpPr>
          <p:nvPr/>
        </p:nvCxnSpPr>
        <p:spPr>
          <a:xfrm flipH="1">
            <a:off x="451063" y="3186088"/>
            <a:ext cx="2901299" cy="0"/>
          </a:xfrm>
          <a:prstGeom prst="line">
            <a:avLst/>
          </a:prstGeom>
          <a:ln w="12700" cap="rnd">
            <a:solidFill>
              <a:srgbClr val="00B0F0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A78B312-1A50-B04A-9ACC-89CA36D5A840}"/>
              </a:ext>
            </a:extLst>
          </p:cNvPr>
          <p:cNvSpPr/>
          <p:nvPr/>
        </p:nvSpPr>
        <p:spPr>
          <a:xfrm>
            <a:off x="451063" y="1737085"/>
            <a:ext cx="2730500" cy="1384995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defTabSz="360000"/>
            <a:r>
              <a:rPr lang="en-US" sz="1200" dirty="0">
                <a:solidFill>
                  <a:srgbClr val="00B0F0"/>
                </a:solidFill>
              </a:rPr>
              <a:t>&lt;</a:t>
            </a:r>
            <a:r>
              <a:rPr lang="en-US" sz="1200" dirty="0" err="1">
                <a:solidFill>
                  <a:srgbClr val="00B0F0"/>
                </a:solidFill>
              </a:rPr>
              <a:t>a:insideH</a:t>
            </a:r>
            <a:r>
              <a:rPr lang="en-US" sz="1200" dirty="0">
                <a:solidFill>
                  <a:srgbClr val="00B0F0"/>
                </a:solidFill>
              </a:rPr>
              <a:t>&gt;</a:t>
            </a:r>
          </a:p>
          <a:p>
            <a:pPr defTabSz="360000"/>
            <a:r>
              <a:rPr lang="en-US" sz="1200" dirty="0">
                <a:solidFill>
                  <a:srgbClr val="00B0F0"/>
                </a:solidFill>
              </a:rPr>
              <a:t>	&lt;</a:t>
            </a:r>
            <a:r>
              <a:rPr lang="en-US" sz="1200" dirty="0" err="1">
                <a:solidFill>
                  <a:srgbClr val="00B0F0"/>
                </a:solidFill>
              </a:rPr>
              <a:t>a:ln</a:t>
            </a:r>
            <a:r>
              <a:rPr lang="en-US" sz="1200" dirty="0">
                <a:solidFill>
                  <a:srgbClr val="00B0F0"/>
                </a:solidFill>
              </a:rPr>
              <a:t> w="7000" </a:t>
            </a:r>
            <a:r>
              <a:rPr lang="en-US" sz="1200" dirty="0" err="1">
                <a:solidFill>
                  <a:srgbClr val="00B0F0"/>
                </a:solidFill>
              </a:rPr>
              <a:t>cmpd</a:t>
            </a:r>
            <a:r>
              <a:rPr lang="en-US" sz="1200" dirty="0">
                <a:solidFill>
                  <a:srgbClr val="00B0F0"/>
                </a:solidFill>
              </a:rPr>
              <a:t>="</a:t>
            </a:r>
            <a:r>
              <a:rPr lang="en-US" sz="1200" dirty="0" err="1">
                <a:solidFill>
                  <a:srgbClr val="00B0F0"/>
                </a:solidFill>
              </a:rPr>
              <a:t>sng</a:t>
            </a:r>
            <a:r>
              <a:rPr lang="en-US" sz="1200" dirty="0">
                <a:solidFill>
                  <a:srgbClr val="00B0F0"/>
                </a:solidFill>
              </a:rPr>
              <a:t>"&gt;</a:t>
            </a:r>
          </a:p>
          <a:p>
            <a:pPr defTabSz="360000"/>
            <a:r>
              <a:rPr lang="en-US" sz="1200" dirty="0">
                <a:solidFill>
                  <a:srgbClr val="00B0F0"/>
                </a:solidFill>
              </a:rPr>
              <a:t>	&lt;</a:t>
            </a:r>
            <a:r>
              <a:rPr lang="en-US" sz="1200" dirty="0" err="1">
                <a:solidFill>
                  <a:srgbClr val="00B0F0"/>
                </a:solidFill>
              </a:rPr>
              <a:t>a:solidFill</a:t>
            </a:r>
            <a:r>
              <a:rPr lang="en-US" sz="1200" dirty="0">
                <a:solidFill>
                  <a:srgbClr val="00B0F0"/>
                </a:solidFill>
              </a:rPr>
              <a:t>&gt;</a:t>
            </a:r>
          </a:p>
          <a:p>
            <a:pPr defTabSz="360000"/>
            <a:r>
              <a:rPr lang="en-US" sz="1200" dirty="0">
                <a:solidFill>
                  <a:srgbClr val="00B0F0"/>
                </a:solidFill>
              </a:rPr>
              <a:t>		&lt;</a:t>
            </a:r>
            <a:r>
              <a:rPr lang="en-US" sz="1200" dirty="0" err="1">
                <a:solidFill>
                  <a:srgbClr val="00B0F0"/>
                </a:solidFill>
              </a:rPr>
              <a:t>a:srgbClr</a:t>
            </a:r>
            <a:r>
              <a:rPr lang="en-US" sz="1200" dirty="0">
                <a:solidFill>
                  <a:srgbClr val="00B0F0"/>
                </a:solidFill>
              </a:rPr>
              <a:t> </a:t>
            </a:r>
            <a:r>
              <a:rPr lang="en-US" sz="1200" dirty="0" err="1">
                <a:solidFill>
                  <a:srgbClr val="00B0F0"/>
                </a:solidFill>
              </a:rPr>
              <a:t>val</a:t>
            </a:r>
            <a:r>
              <a:rPr lang="en-US" sz="1200" dirty="0">
                <a:solidFill>
                  <a:srgbClr val="00B0F0"/>
                </a:solidFill>
              </a:rPr>
              <a:t>="D9D9D9"/&gt;</a:t>
            </a:r>
          </a:p>
          <a:p>
            <a:pPr defTabSz="360000"/>
            <a:r>
              <a:rPr lang="en-US" sz="1200" dirty="0">
                <a:solidFill>
                  <a:srgbClr val="00B0F0"/>
                </a:solidFill>
              </a:rPr>
              <a:t>	&lt;/</a:t>
            </a:r>
            <a:r>
              <a:rPr lang="en-US" sz="1200" dirty="0" err="1">
                <a:solidFill>
                  <a:srgbClr val="00B0F0"/>
                </a:solidFill>
              </a:rPr>
              <a:t>a:solidFill</a:t>
            </a:r>
            <a:r>
              <a:rPr lang="en-US" sz="1200" dirty="0">
                <a:solidFill>
                  <a:srgbClr val="00B0F0"/>
                </a:solidFill>
              </a:rPr>
              <a:t>&gt;</a:t>
            </a:r>
          </a:p>
          <a:p>
            <a:pPr defTabSz="360000"/>
            <a:r>
              <a:rPr lang="en-US" sz="1200" dirty="0">
                <a:solidFill>
                  <a:srgbClr val="00B0F0"/>
                </a:solidFill>
              </a:rPr>
              <a:t>	&lt;/</a:t>
            </a:r>
            <a:r>
              <a:rPr lang="en-US" sz="1200" dirty="0" err="1">
                <a:solidFill>
                  <a:srgbClr val="00B0F0"/>
                </a:solidFill>
              </a:rPr>
              <a:t>a:ln</a:t>
            </a:r>
            <a:r>
              <a:rPr lang="en-US" sz="1200" dirty="0">
                <a:solidFill>
                  <a:srgbClr val="00B0F0"/>
                </a:solidFill>
              </a:rPr>
              <a:t>&gt;</a:t>
            </a:r>
          </a:p>
          <a:p>
            <a:pPr defTabSz="360000"/>
            <a:r>
              <a:rPr lang="en-US" sz="1200" dirty="0">
                <a:solidFill>
                  <a:srgbClr val="00B0F0"/>
                </a:solidFill>
              </a:rPr>
              <a:t>&lt;/</a:t>
            </a:r>
            <a:r>
              <a:rPr lang="en-US" sz="1200" dirty="0" err="1">
                <a:solidFill>
                  <a:srgbClr val="00B0F0"/>
                </a:solidFill>
              </a:rPr>
              <a:t>a:insideH</a:t>
            </a:r>
            <a:r>
              <a:rPr lang="en-US" sz="1200" dirty="0">
                <a:solidFill>
                  <a:srgbClr val="00B0F0"/>
                </a:solidFill>
              </a:rPr>
              <a:t>&gt;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EFDDB0-747C-8E4A-96AD-84936BC16460}"/>
              </a:ext>
            </a:extLst>
          </p:cNvPr>
          <p:cNvSpPr/>
          <p:nvPr/>
        </p:nvSpPr>
        <p:spPr>
          <a:xfrm>
            <a:off x="451063" y="4600360"/>
            <a:ext cx="2730500" cy="1015663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defTabSz="360000"/>
            <a:r>
              <a:rPr lang="en-US" sz="1200" dirty="0">
                <a:solidFill>
                  <a:srgbClr val="00B0F0"/>
                </a:solidFill>
              </a:rPr>
              <a:t>&lt;</a:t>
            </a:r>
            <a:r>
              <a:rPr lang="en-US" sz="1200" dirty="0" err="1">
                <a:solidFill>
                  <a:srgbClr val="00B0F0"/>
                </a:solidFill>
              </a:rPr>
              <a:t>a:fill</a:t>
            </a:r>
            <a:r>
              <a:rPr lang="en-US" sz="1200" dirty="0">
                <a:solidFill>
                  <a:srgbClr val="00B0F0"/>
                </a:solidFill>
              </a:rPr>
              <a:t>&gt;</a:t>
            </a:r>
          </a:p>
          <a:p>
            <a:pPr defTabSz="360000"/>
            <a:r>
              <a:rPr lang="en-US" sz="1200" dirty="0">
                <a:solidFill>
                  <a:srgbClr val="00B0F0"/>
                </a:solidFill>
              </a:rPr>
              <a:t>&lt;</a:t>
            </a:r>
            <a:r>
              <a:rPr lang="en-US" sz="1200" dirty="0" err="1">
                <a:solidFill>
                  <a:srgbClr val="00B0F0"/>
                </a:solidFill>
              </a:rPr>
              <a:t>a:solidFill</a:t>
            </a:r>
            <a:r>
              <a:rPr lang="en-US" sz="1200" dirty="0">
                <a:solidFill>
                  <a:srgbClr val="00B0F0"/>
                </a:solidFill>
              </a:rPr>
              <a:t>&gt;</a:t>
            </a:r>
          </a:p>
          <a:p>
            <a:pPr defTabSz="360000"/>
            <a:r>
              <a:rPr lang="en-US" sz="1200" dirty="0">
                <a:solidFill>
                  <a:srgbClr val="00B0F0"/>
                </a:solidFill>
              </a:rPr>
              <a:t>	&lt;</a:t>
            </a:r>
            <a:r>
              <a:rPr lang="en-US" sz="1200" dirty="0" err="1">
                <a:solidFill>
                  <a:srgbClr val="00B0F0"/>
                </a:solidFill>
              </a:rPr>
              <a:t>a:srgbClr</a:t>
            </a:r>
            <a:r>
              <a:rPr lang="en-US" sz="1200" dirty="0">
                <a:solidFill>
                  <a:srgbClr val="00B0F0"/>
                </a:solidFill>
              </a:rPr>
              <a:t> </a:t>
            </a:r>
            <a:r>
              <a:rPr lang="en-US" sz="1200" dirty="0" err="1">
                <a:solidFill>
                  <a:srgbClr val="00B0F0"/>
                </a:solidFill>
              </a:rPr>
              <a:t>val</a:t>
            </a:r>
            <a:r>
              <a:rPr lang="en-US" sz="1200" dirty="0">
                <a:solidFill>
                  <a:srgbClr val="00B0F0"/>
                </a:solidFill>
              </a:rPr>
              <a:t>="FFFFFF"/&gt;</a:t>
            </a:r>
          </a:p>
          <a:p>
            <a:pPr defTabSz="360000"/>
            <a:r>
              <a:rPr lang="en-US" sz="1200" dirty="0">
                <a:solidFill>
                  <a:srgbClr val="00B0F0"/>
                </a:solidFill>
              </a:rPr>
              <a:t>&lt;/</a:t>
            </a:r>
            <a:r>
              <a:rPr lang="en-US" sz="1200" dirty="0" err="1">
                <a:solidFill>
                  <a:srgbClr val="00B0F0"/>
                </a:solidFill>
              </a:rPr>
              <a:t>a:solidFill</a:t>
            </a:r>
            <a:r>
              <a:rPr lang="en-US" sz="1200" dirty="0">
                <a:solidFill>
                  <a:srgbClr val="00B0F0"/>
                </a:solidFill>
              </a:rPr>
              <a:t>&gt;</a:t>
            </a:r>
          </a:p>
          <a:p>
            <a:pPr defTabSz="360000"/>
            <a:r>
              <a:rPr lang="en-US" sz="1200" dirty="0">
                <a:solidFill>
                  <a:srgbClr val="00B0F0"/>
                </a:solidFill>
              </a:rPr>
              <a:t>&lt;/</a:t>
            </a:r>
            <a:r>
              <a:rPr lang="en-US" sz="1200" dirty="0" err="1">
                <a:solidFill>
                  <a:srgbClr val="00B0F0"/>
                </a:solidFill>
              </a:rPr>
              <a:t>a:fill</a:t>
            </a:r>
            <a:r>
              <a:rPr lang="en-US" sz="1200" dirty="0">
                <a:solidFill>
                  <a:srgbClr val="00B0F0"/>
                </a:solidFill>
              </a:rPr>
              <a:t>&gt;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69F1FBE-018F-4C47-9492-4391431C418F}"/>
              </a:ext>
            </a:extLst>
          </p:cNvPr>
          <p:cNvCxnSpPr>
            <a:cxnSpLocks/>
          </p:cNvCxnSpPr>
          <p:nvPr/>
        </p:nvCxnSpPr>
        <p:spPr>
          <a:xfrm flipH="1">
            <a:off x="451063" y="4545496"/>
            <a:ext cx="3243112" cy="0"/>
          </a:xfrm>
          <a:prstGeom prst="line">
            <a:avLst/>
          </a:prstGeom>
          <a:ln w="12700" cap="rnd">
            <a:solidFill>
              <a:srgbClr val="00B0F0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30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7BE1360E-164A-465E-9C51-195D39168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254487"/>
              </p:ext>
            </p:extLst>
          </p:nvPr>
        </p:nvGraphicFramePr>
        <p:xfrm>
          <a:off x="6233160" y="1809000"/>
          <a:ext cx="5400000" cy="3240000"/>
        </p:xfrm>
        <a:graphic>
          <a:graphicData uri="http://schemas.openxmlformats.org/drawingml/2006/table">
            <a:tbl>
              <a:tblPr firstRow="1" bandRow="1">
                <a:effectLst/>
                <a:tableStyleId>{0817EA92-75D0-4044-A80A-286907CE0DDB}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64869252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32693057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674255288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RU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27205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&lt;a:band1H&gt;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61209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&lt;a:band2H&gt;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650202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938918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939707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6818009"/>
                  </a:ext>
                </a:extLst>
              </a:tr>
            </a:tbl>
          </a:graphicData>
        </a:graphic>
      </p:graphicFrame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B6C2AE0F-BC7C-E34E-8F7C-225E54F9A7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916039"/>
              </p:ext>
            </p:extLst>
          </p:nvPr>
        </p:nvGraphicFramePr>
        <p:xfrm>
          <a:off x="588792" y="1809000"/>
          <a:ext cx="5400000" cy="3240000"/>
        </p:xfrm>
        <a:graphic>
          <a:graphicData uri="http://schemas.openxmlformats.org/drawingml/2006/table">
            <a:tbl>
              <a:tblPr bandCol="1">
                <a:effectLst/>
                <a:tableStyleId>{0817EA92-75D0-4044-A80A-286907CE0DDB}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64869252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146179295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32693057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1674255288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RU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27205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en-GB" dirty="0"/>
                        <a:t>&lt;a:band1V&gt;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&lt;a:band2V&gt;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61209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650202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938918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939707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6818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3685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0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7C73D26-940D-7449-8B4D-82AE0F22B7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702650"/>
              </p:ext>
            </p:extLst>
          </p:nvPr>
        </p:nvGraphicFramePr>
        <p:xfrm>
          <a:off x="3396000" y="1809000"/>
          <a:ext cx="5400000" cy="3240000"/>
        </p:xfrm>
        <a:graphic>
          <a:graphicData uri="http://schemas.openxmlformats.org/drawingml/2006/table">
            <a:tbl>
              <a:tblPr firstRow="1">
                <a:effectLst/>
                <a:tableStyleId>{0817EA92-75D0-4044-A80A-286907CE0DDB}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64869252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32693057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674255288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&lt;</a:t>
                      </a:r>
                      <a:r>
                        <a:rPr lang="en-US" dirty="0" err="1"/>
                        <a:t>a:firstRow</a:t>
                      </a:r>
                      <a:r>
                        <a:rPr lang="en-US" dirty="0"/>
                        <a:t>&gt;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RU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27205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61209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650202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938918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8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939707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&lt;</a:t>
                      </a:r>
                      <a:r>
                        <a:rPr lang="en-US" dirty="0" err="1"/>
                        <a:t>a:lastRow</a:t>
                      </a:r>
                      <a:r>
                        <a:rPr lang="en-US" dirty="0"/>
                        <a:t>&gt;</a:t>
                      </a:r>
                      <a:endParaRPr lang="en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6818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8001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452</Words>
  <Application>Microsoft Office PowerPoint</Application>
  <PresentationFormat>Widescreen</PresentationFormat>
  <Paragraphs>137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35</cp:revision>
  <dcterms:created xsi:type="dcterms:W3CDTF">2020-09-08T17:42:51Z</dcterms:created>
  <dcterms:modified xsi:type="dcterms:W3CDTF">2022-05-20T12:06:56Z</dcterms:modified>
</cp:coreProperties>
</file>